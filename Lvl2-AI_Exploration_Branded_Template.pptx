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5"/>
  </p:normalViewPr>
  <p:slideViewPr>
    <p:cSldViewPr snapToGrid="0">
      <p:cViewPr varScale="1">
        <p:scale>
          <a:sx n="102" d="100"/>
          <a:sy n="102" d="100"/>
        </p:scale>
        <p:origin x="19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Workshop template, not official MOE branding. Replace every bracketed placeholder. Use the reviewed analysis from Participation_Review_Brief.docx, Participation_Records.xlsx and Cohort_Totals.xlsx. Keep the six-slide sequence. Brand concept: Learning beyond borders. Midnight blue, teal, coral and warm ivory. Custom fictional programme identity, not official MOE branding.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exact duplicate removal, latest record version, cancelled and out-of-period exclusions, missing identifiers/status and cohort mismatches. Distinguish completed trip records from unique completed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Count unique students with completed participation. Include all six cohorts and matching denominators. Show rates to one decimal place. Compute the overall rate from total participants / total enrolment, not the unweighted mean. Use an editable table and optionally a chart. State material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Priorities are proposals for officer review. Participation rates alone do not establish affordability, awareness, nationality, disability or motivation as a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Separate documented data issues from hypotheses. Do not fill missing records or invent reasons for non-participation. State what would change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Owners, timelines and success targets are proposed unless present in source evidence. Retain source references and request officer review before outreach.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09D9337-BF52-41A2-BDE2-C917ED7BF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10B4686-2E89-4CE1-9F4F-FBF2B5445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A08EB87-8B42-4703-BF9A-B52EDD76E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B236A1C-1B07-4B13-9E9A-F9DB217A9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5D886ED-917C-48E1-8948-C99CAFCF8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D0A958B-39A6-4BEB-A1A5-3F3E0B4F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37C62F2-EE51-48C6-BC75-1F9387E4C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0BE726D-9E85-4ADA-BB6E-00E29C4B38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1CE0649-53D2-40F3-8251-368B6CB4B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51BBBE9-7F6A-4A91-B48D-E21CD7F9D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EA59F89-A6E4-4BEF-A3BC-6E5E4714C9B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51B66A-50E8-46CA-9AB4-3938B7851D3C}"/>
              </a:ext>
            </a:extLst>
          </p:cNvPr>
          <p:cNvSpPr>
            <a:spLocks noGrp="1"/>
          </p:cNvSpPr>
          <p:nvPr/>
        </p:nvSpPr>
        <p:spPr>
          <a:xfrm>
            <a:off x="571500" y="314325"/>
            <a:ext cx="1714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00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8FF78"/>
                </a:solidFill>
                <a:latin typeface="Arial"/>
                <a:ea typeface="Arial"/>
                <a:cs typeface="Arial"/>
              </a:rPr>
              <a:t>AIP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957B4-258C-45CF-AF5E-7B3AFBF94BA9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EXPLORATION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146281-61D9-4346-8737-DA82F5230028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57150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875" b="0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FF78"/>
                </a:solidFill>
                <a:latin typeface="Arial"/>
                <a:ea typeface="Arial"/>
                <a:cs typeface="Arial"/>
              </a:rPr>
              <a:t>Explore AI. Build understanding.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3702DB-1134-4215-BA6C-E08C2B180C4B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PARTICIPATION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AAF98B-EBC7-4024-8009-4DD81069F506}"/>
              </a:ext>
            </a:extLst>
          </p:cNvPr>
          <p:cNvSpPr>
            <a:spLocks noGrp="1"/>
          </p:cNvSpPr>
          <p:nvPr/>
        </p:nvSpPr>
        <p:spPr>
          <a:xfrm>
            <a:off x="590550" y="408622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C8BC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650" b="0">
                <a:solidFill>
                  <a:srgbClr val="C8BC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BCF0"/>
                </a:solidFill>
                <a:latin typeface="Arial"/>
                <a:ea typeface="Arial"/>
                <a:cs typeface="Arial"/>
              </a:rPr>
              <a:t>[Academic year and review date]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65567-3C8D-47E5-B877-A70AA07A2216}"/>
              </a:ext>
            </a:extLst>
          </p:cNvPr>
          <p:cNvSpPr>
            <a:spLocks noGrp="1"/>
          </p:cNvSpPr>
          <p:nvPr/>
        </p:nvSpPr>
        <p:spPr>
          <a:xfrm>
            <a:off x="590550" y="4581525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[Main finding after reviewing the evidence]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8B65C1-5FA2-4BCD-AA8F-D686C7C9FFCF}"/>
              </a:ext>
            </a:extLst>
          </p:cNvPr>
          <p:cNvSpPr>
            <a:spLocks noGrp="1"/>
          </p:cNvSpPr>
          <p:nvPr/>
        </p:nvSpPr>
        <p:spPr>
          <a:xfrm>
            <a:off x="590550" y="5362575"/>
            <a:ext cx="5143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50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8FF78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825836-1E28-48C3-BF15-851EA521472B}"/>
              </a:ext>
            </a:extLst>
          </p:cNvPr>
          <p:cNvSpPr>
            <a:spLocks noGrp="1"/>
          </p:cNvSpPr>
          <p:nvPr/>
        </p:nvSpPr>
        <p:spPr>
          <a:xfrm>
            <a:off x="590550" y="566737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[One sentence explaining the outreach decision needed]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9F4701-842D-4705-BC57-8292A8DED9DA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C3BDD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975" b="0">
                <a:solidFill>
                  <a:srgbClr val="C3BD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3BDDB"/>
                </a:solidFill>
                <a:latin typeface="Arial"/>
                <a:ea typeface="Arial"/>
                <a:cs typeface="Arial"/>
              </a:rPr>
              <a:t>Fictional Skill Test 2 template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9F712F-E5CA-4D60-AE46-07914762160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65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F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C2BCB-32E8-4FC9-9CF3-8569C063396B}"/>
              </a:ext>
            </a:extLst>
          </p:cNvPr>
          <p:cNvSpPr>
            <a:spLocks noGrp="1"/>
          </p:cNvSpPr>
          <p:nvPr/>
        </p:nvSpPr>
        <p:spPr>
          <a:xfrm>
            <a:off x="590550" y="2085975"/>
            <a:ext cx="5429250" cy="571500"/>
          </a:xfrm>
          <a:prstGeom prst="rect">
            <a:avLst/>
          </a:prstGeom>
          <a:noFill/>
          <a:ln w="0">
            <a:noFill/>
          </a:ln>
        </p:spPr>
        <p:txBody>
          <a:bodyPr lIns="76200" tIns="76200" rIns="76200" bIns="76200"/>
          <a:lstStyle>
            <a:defPPr>
              <a:defRPr sz="2775" b="0">
                <a:solidFill>
                  <a:srgbClr val="C8BCF0"/>
                </a:solidFill>
              </a:defRPr>
            </a:defPPr>
          </a:lstStyle>
          <a:p>
            <a:pPr>
              <a:defRPr sz="2775" b="0">
                <a:solidFill>
                  <a:srgbClr val="C8BCF0"/>
                </a:solidFill>
              </a:defRPr>
            </a:pPr>
            <a:r>
              <a:rPr sz="2775" b="0">
                <a:solidFill>
                  <a:srgbClr val="C8BCF0"/>
                </a:solidFill>
              </a:rPr>
              <a:t>PROGRAMME</a:t>
            </a:r>
          </a:p>
        </p:txBody>
      </p:sp>
    </p:spTree>
    <p:extLst>
      <p:ext uri="{BB962C8B-B14F-4D97-AF65-F5344CB8AC3E}">
        <p14:creationId xmlns:p14="http://schemas.microsoft.com/office/powerpoint/2010/main" val="1516059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026D29-3439-4601-9271-5AB88D052398}"/>
              </a:ext>
            </a:extLst>
          </p:cNvPr>
          <p:cNvSpPr>
            <a:spLocks noGrp="1"/>
          </p:cNvSpPr>
          <p:nvPr/>
        </p:nvSpPr>
        <p:spPr>
          <a:xfrm>
            <a:off x="590550" y="93345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15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Data quality and review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EC4BD-5C6C-43D4-A9E1-AD4DE0DA99DE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9677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975" b="0">
                <a:solidFill>
                  <a:srgbClr val="6967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677D"/>
                </a:solidFill>
                <a:latin typeface="Arial"/>
                <a:ea typeface="Arial"/>
                <a:cs typeface="Arial"/>
              </a:rPr>
              <a:t>AI EXPLORATION PROGRAMME  /  Fictional Skill Test 2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F731D2-1F39-47B0-9819-ADACB6AB1330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65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1032DC-D0AC-435A-91A6-15E048BA6501}"/>
              </a:ext>
            </a:extLst>
          </p:cNvPr>
          <p:cNvSpPr>
            <a:spLocks noGrp="1"/>
          </p:cNvSpPr>
          <p:nvPr/>
        </p:nvSpPr>
        <p:spPr>
          <a:xfrm>
            <a:off x="619125" y="162877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95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182E"/>
                </a:solidFill>
                <a:latin typeface="Arial"/>
                <a:ea typeface="Arial"/>
                <a:cs typeface="Arial"/>
              </a:rPr>
              <a:t>[Scope and counting rule in one sentence]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5D02FB-D238-475D-AD8B-74FA46B03269}"/>
              </a:ext>
            </a:extLst>
          </p:cNvPr>
          <p:cNvGraphicFramePr/>
          <p:nvPr/>
        </p:nvGraphicFramePr>
        <p:xfrm>
          <a:off x="619125" y="2171700"/>
          <a:ext cx="10953750" cy="3000376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09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Finding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Scope and periods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[Finding]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[Action]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Duplicates and versions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[Finding]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[Action]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Unresolved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[Finding]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[Impact on confidence]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A5F8446-6343-42EE-AF87-0484BB4B3A31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5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182E"/>
                </a:solidFill>
                <a:latin typeface="Arial"/>
                <a:ea typeface="Arial"/>
                <a:cs typeface="Arial"/>
              </a:rPr>
              <a:t>Source: [File, sheet and record IDs]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777E0-24C2-4ED0-8717-8B6C5D539C5A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763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40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AIP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2BBFAD-1EDB-4E70-9FB5-3831E3B96FBD}"/>
              </a:ext>
            </a:extLst>
          </p:cNvPr>
          <p:cNvSpPr>
            <a:spLocks noGrp="1"/>
          </p:cNvSpPr>
          <p:nvPr/>
        </p:nvSpPr>
        <p:spPr>
          <a:xfrm>
            <a:off x="1533525" y="2857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AI EXPLORATION PROGRAMME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D21FD5-C457-459D-8218-C79B1D69257D}"/>
              </a:ext>
            </a:extLst>
          </p:cNvPr>
          <p:cNvSpPr>
            <a:spLocks noGrp="1"/>
          </p:cNvSpPr>
          <p:nvPr/>
        </p:nvSpPr>
        <p:spPr>
          <a:xfrm>
            <a:off x="1533525" y="495300"/>
            <a:ext cx="619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050" b="0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40C8"/>
                </a:solidFill>
                <a:latin typeface="Arial"/>
                <a:ea typeface="Arial"/>
                <a:cs typeface="Arial"/>
              </a:rPr>
              <a:t>Explore AI. Build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76744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800B67-11FF-4B8E-87B5-B70893B316A7}"/>
              </a:ext>
            </a:extLst>
          </p:cNvPr>
          <p:cNvSpPr>
            <a:spLocks noGrp="1"/>
          </p:cNvSpPr>
          <p:nvPr/>
        </p:nvSpPr>
        <p:spPr>
          <a:xfrm>
            <a:off x="590550" y="93345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15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Participation by diploma cohort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CCB58-8288-4168-A760-01788AD1FA11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9677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975" b="0">
                <a:solidFill>
                  <a:srgbClr val="6967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677D"/>
                </a:solidFill>
                <a:latin typeface="Arial"/>
                <a:ea typeface="Arial"/>
                <a:cs typeface="Arial"/>
              </a:rPr>
              <a:t>AI EXPLORATION PROGRAMME  /  Fictional Skill Test 2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7E641-F911-4F89-9364-2DF608E54FDA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65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2891DD-4DD6-4120-8157-02A511AE7FDF}"/>
              </a:ext>
            </a:extLst>
          </p:cNvPr>
          <p:cNvGraphicFramePr/>
          <p:nvPr/>
        </p:nvGraphicFramePr>
        <p:xfrm>
          <a:off x="619125" y="1543050"/>
          <a:ext cx="7810500" cy="3733800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Diploma and cohort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Enrolled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Business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Business Year 2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[%]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Engineering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Engineering Year 2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[%]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Design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Design Year 2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[N]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[%]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2FABD1C-E549-482A-A3EE-4DAD44788BE6}"/>
              </a:ext>
            </a:extLst>
          </p:cNvPr>
          <p:cNvSpPr>
            <a:spLocks noGrp="1"/>
          </p:cNvSpPr>
          <p:nvPr/>
        </p:nvSpPr>
        <p:spPr>
          <a:xfrm>
            <a:off x="8810625" y="1752600"/>
            <a:ext cx="2762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625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625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[Overall rate]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5D7FE-FCC8-4E26-BB0D-6A030BA40E98}"/>
              </a:ext>
            </a:extLst>
          </p:cNvPr>
          <p:cNvSpPr>
            <a:spLocks noGrp="1"/>
          </p:cNvSpPr>
          <p:nvPr/>
        </p:nvSpPr>
        <p:spPr>
          <a:xfrm>
            <a:off x="8858250" y="2781300"/>
            <a:ext cx="2667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182E"/>
                </a:solidFill>
                <a:latin typeface="Arial"/>
                <a:ea typeface="Arial"/>
                <a:cs typeface="Arial"/>
              </a:rPr>
              <a:t>[One finding supported by the comparison]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23752-862B-4C59-918C-20FFFB3FF075}"/>
              </a:ext>
            </a:extLst>
          </p:cNvPr>
          <p:cNvSpPr>
            <a:spLocks noGrp="1"/>
          </p:cNvSpPr>
          <p:nvPr/>
        </p:nvSpPr>
        <p:spPr>
          <a:xfrm>
            <a:off x="8858250" y="4657725"/>
            <a:ext cx="2667000" cy="1066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5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182E"/>
                </a:solidFill>
                <a:latin typeface="Arial"/>
                <a:ea typeface="Arial"/>
                <a:cs typeface="Arial"/>
              </a:rPr>
              <a:t>[Optional editable rate chart can replace this text area]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2E4B2-097F-4D4B-9973-286D40D8F354}"/>
              </a:ext>
            </a:extLst>
          </p:cNvPr>
          <p:cNvSpPr>
            <a:spLocks noGrp="1"/>
          </p:cNvSpPr>
          <p:nvPr/>
        </p:nvSpPr>
        <p:spPr>
          <a:xfrm>
            <a:off x="619125" y="5572125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5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182E"/>
                </a:solidFill>
                <a:latin typeface="Arial"/>
                <a:ea typeface="Arial"/>
                <a:cs typeface="Arial"/>
              </a:rPr>
              <a:t>Source: [Files, sheets and ranges]. Rate uses matching cohort enrolment.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CDEF1-264B-4F69-B652-C536985F1123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763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40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AIP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C32F59-DE47-4899-937F-77A430C70ACB}"/>
              </a:ext>
            </a:extLst>
          </p:cNvPr>
          <p:cNvSpPr>
            <a:spLocks noGrp="1"/>
          </p:cNvSpPr>
          <p:nvPr/>
        </p:nvSpPr>
        <p:spPr>
          <a:xfrm>
            <a:off x="1533525" y="2857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AI EXPLORATION PROGRAMME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8BFD3-8472-4F3C-9C06-E427A74424E7}"/>
              </a:ext>
            </a:extLst>
          </p:cNvPr>
          <p:cNvSpPr>
            <a:spLocks noGrp="1"/>
          </p:cNvSpPr>
          <p:nvPr/>
        </p:nvSpPr>
        <p:spPr>
          <a:xfrm>
            <a:off x="1533525" y="495300"/>
            <a:ext cx="619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050" b="0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40C8"/>
                </a:solidFill>
                <a:latin typeface="Arial"/>
                <a:ea typeface="Arial"/>
                <a:cs typeface="Arial"/>
              </a:rPr>
              <a:t>Explore AI. Build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85908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FB6D26-00D2-494A-8288-BE8CD1FD6F62}"/>
              </a:ext>
            </a:extLst>
          </p:cNvPr>
          <p:cNvSpPr>
            <a:spLocks noGrp="1"/>
          </p:cNvSpPr>
          <p:nvPr/>
        </p:nvSpPr>
        <p:spPr>
          <a:xfrm>
            <a:off x="590550" y="93345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15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Outreach priorities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08B73-B8B8-40D2-9757-77673E7F4B31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9677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975" b="0">
                <a:solidFill>
                  <a:srgbClr val="6967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677D"/>
                </a:solidFill>
                <a:latin typeface="Arial"/>
                <a:ea typeface="Arial"/>
                <a:cs typeface="Arial"/>
              </a:rPr>
              <a:t>AI EXPLORATION PROGRAMME  /  Fictional Skill Test 2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D6687C-3450-4CCF-AFEA-1A6FC55491C6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65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6BD721-29FF-4BFD-818A-3A31807A7CEA}"/>
              </a:ext>
            </a:extLst>
          </p:cNvPr>
          <p:cNvGraphicFramePr/>
          <p:nvPr/>
        </p:nvGraphicFramePr>
        <p:xfrm>
          <a:off x="619125" y="1752600"/>
          <a:ext cx="10953750" cy="3238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 cohort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outreach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[Cohort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[Count and rate]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[Specific next step]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[Cohort 2]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[Count and rate]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[Specific next step]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[Cohort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[Count and rate]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[Specific next step]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8510592-C1DE-456A-9519-13B653377B99}"/>
              </a:ext>
            </a:extLst>
          </p:cNvPr>
          <p:cNvSpPr>
            <a:spLocks noGrp="1"/>
          </p:cNvSpPr>
          <p:nvPr/>
        </p:nvSpPr>
        <p:spPr>
          <a:xfrm>
            <a:off x="619125" y="5334000"/>
            <a:ext cx="107632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800" b="0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2E"/>
                </a:solidFill>
                <a:latin typeface="Arial"/>
                <a:ea typeface="Arial"/>
                <a:cs typeface="Arial"/>
              </a:rPr>
              <a:t>[What must be checked before acting on these priorities]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ECCA9-AF5D-4060-A400-4E5F54C08549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763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40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AIP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C13E08-E996-4A56-BFCF-FF883E2649BB}"/>
              </a:ext>
            </a:extLst>
          </p:cNvPr>
          <p:cNvSpPr>
            <a:spLocks noGrp="1"/>
          </p:cNvSpPr>
          <p:nvPr/>
        </p:nvSpPr>
        <p:spPr>
          <a:xfrm>
            <a:off x="1533525" y="2857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AI EXPLORATION PROGRAMME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E9FED5-A6B1-4233-A4A9-54758AAABCDE}"/>
              </a:ext>
            </a:extLst>
          </p:cNvPr>
          <p:cNvSpPr>
            <a:spLocks noGrp="1"/>
          </p:cNvSpPr>
          <p:nvPr/>
        </p:nvSpPr>
        <p:spPr>
          <a:xfrm>
            <a:off x="1533525" y="495300"/>
            <a:ext cx="619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050" b="0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40C8"/>
                </a:solidFill>
                <a:latin typeface="Arial"/>
                <a:ea typeface="Arial"/>
                <a:cs typeface="Arial"/>
              </a:rPr>
              <a:t>Explore AI. Build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13469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226C58-3BB2-4102-8E90-A75DE30156D3}"/>
              </a:ext>
            </a:extLst>
          </p:cNvPr>
          <p:cNvSpPr>
            <a:spLocks noGrp="1"/>
          </p:cNvSpPr>
          <p:nvPr/>
        </p:nvSpPr>
        <p:spPr>
          <a:xfrm>
            <a:off x="590550" y="93345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Uncertainties and questions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986C9E-E26D-42E9-9EA1-50E732E3A4B1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C3BDD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975" b="0">
                <a:solidFill>
                  <a:srgbClr val="C3BD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3BDDB"/>
                </a:solidFill>
                <a:latin typeface="Arial"/>
                <a:ea typeface="Arial"/>
                <a:cs typeface="Arial"/>
              </a:rPr>
              <a:t>AI EXPLORATION PROGRAMME  /  Fictional Skill Test 2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36B2A7-A37C-4308-BF29-B164DD323371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65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FF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D4B69F-799B-4397-8612-FFC6C6E25743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25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FF78"/>
                </a:solidFill>
                <a:latin typeface="Arial"/>
                <a:ea typeface="Arial"/>
                <a:cs typeface="Arial"/>
              </a:rPr>
              <a:t>Data gaps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95C00F-1ED0-4ED8-9F93-3C45B5D8D11F}"/>
              </a:ext>
            </a:extLst>
          </p:cNvPr>
          <p:cNvSpPr>
            <a:spLocks noGrp="1"/>
          </p:cNvSpPr>
          <p:nvPr/>
        </p:nvSpPr>
        <p:spPr>
          <a:xfrm>
            <a:off x="619125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[Unresolved record issue]</a:t>
            </a:r>
          </a:p>
          <a:p>
            <a:endParaRPr sz="21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[Missing denominator or status]</a:t>
            </a:r>
          </a:p>
          <a:p>
            <a:endParaRPr sz="21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[Effect on interpretation]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6CAA8A-42DA-433D-A3F3-3AE536B9AA4F}"/>
              </a:ext>
            </a:extLst>
          </p:cNvPr>
          <p:cNvSpPr>
            <a:spLocks noGrp="1"/>
          </p:cNvSpPr>
          <p:nvPr/>
        </p:nvSpPr>
        <p:spPr>
          <a:xfrm>
            <a:off x="6381750" y="1714500"/>
            <a:ext cx="5191125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25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FF78"/>
                </a:solidFill>
                <a:latin typeface="Arial"/>
                <a:ea typeface="Arial"/>
                <a:cs typeface="Arial"/>
              </a:rPr>
              <a:t>Questions for programme teams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25186-A331-406D-B203-A64C077347B1}"/>
              </a:ext>
            </a:extLst>
          </p:cNvPr>
          <p:cNvSpPr>
            <a:spLocks noGrp="1"/>
          </p:cNvSpPr>
          <p:nvPr/>
        </p:nvSpPr>
        <p:spPr>
          <a:xfrm>
            <a:off x="6381750" y="2590800"/>
            <a:ext cx="5048250" cy="2857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[Question that tests a possible barrier]</a:t>
            </a:r>
          </a:p>
          <a:p>
            <a:endParaRPr sz="21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[Evidence needed to answer it]</a:t>
            </a:r>
          </a:p>
          <a:p>
            <a:endParaRPr sz="21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[Who can supply that evidence]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C9A573-37A7-417D-89D9-0B565AF6A3B8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763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400" b="1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8FF78"/>
                </a:solidFill>
                <a:latin typeface="Arial"/>
                <a:ea typeface="Arial"/>
                <a:cs typeface="Arial"/>
              </a:rPr>
              <a:t>AIP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27A3F7-159E-4BF8-91BD-96B4D146DC75}"/>
              </a:ext>
            </a:extLst>
          </p:cNvPr>
          <p:cNvSpPr>
            <a:spLocks noGrp="1"/>
          </p:cNvSpPr>
          <p:nvPr/>
        </p:nvSpPr>
        <p:spPr>
          <a:xfrm>
            <a:off x="1533525" y="2857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EXPLORATION PROGRAMME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9692A9-BE99-4318-876B-638D734D525F}"/>
              </a:ext>
            </a:extLst>
          </p:cNvPr>
          <p:cNvSpPr>
            <a:spLocks noGrp="1"/>
          </p:cNvSpPr>
          <p:nvPr/>
        </p:nvSpPr>
        <p:spPr>
          <a:xfrm>
            <a:off x="1533525" y="495300"/>
            <a:ext cx="619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D8FF7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050" b="0">
                <a:solidFill>
                  <a:srgbClr val="D8FF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8FF78"/>
                </a:solidFill>
                <a:latin typeface="Arial"/>
                <a:ea typeface="Arial"/>
                <a:cs typeface="Arial"/>
              </a:rPr>
              <a:t>Explore AI. Build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7174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C72657-3DA4-4C15-B7DF-B307CBDB842E}"/>
              </a:ext>
            </a:extLst>
          </p:cNvPr>
          <p:cNvSpPr>
            <a:spLocks noGrp="1"/>
          </p:cNvSpPr>
          <p:nvPr/>
        </p:nvSpPr>
        <p:spPr>
          <a:xfrm>
            <a:off x="590550" y="93345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15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Proposed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12CAA2-E1BB-4AAB-8E0C-A51D6D38635C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0">
                <a:solidFill>
                  <a:srgbClr val="69677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975" b="0">
                <a:solidFill>
                  <a:srgbClr val="6967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677D"/>
                </a:solidFill>
                <a:latin typeface="Arial"/>
                <a:ea typeface="Arial"/>
                <a:cs typeface="Arial"/>
              </a:rPr>
              <a:t>AI EXPLORATION PROGRAMME  /  Fictional Skill Test 2 template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336896-2BD7-4205-B300-B639DD0B7E45}"/>
              </a:ext>
            </a:extLst>
          </p:cNvPr>
          <p:cNvSpPr>
            <a:spLocks noGrp="1"/>
          </p:cNvSpPr>
          <p:nvPr/>
        </p:nvSpPr>
        <p:spPr>
          <a:xfrm>
            <a:off x="11049000" y="62579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65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9E65B-95DD-4F53-A5E5-FDEB5CA4700A}"/>
              </a:ext>
            </a:extLst>
          </p:cNvPr>
          <p:cNvGraphicFramePr/>
          <p:nvPr/>
        </p:nvGraphicFramePr>
        <p:xfrm>
          <a:off x="619125" y="1790700"/>
          <a:ext cx="10953750" cy="3143252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owner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>
                    <a:solidFill>
                      <a:srgbClr val="29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[Action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[Role]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[Date or period]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[Observable result]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[Action 2]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[Role]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[Date or period]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[Observable result]</a:t>
                      </a:r>
                    </a:p>
                  </a:txBody>
                  <a:tcPr>
                    <a:solidFill>
                      <a:srgbClr val="EE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[Action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[Role]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[Date or period]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039"/>
                          </a:solidFill>
                          <a:latin typeface="Arial"/>
                          <a:ea typeface="Arial"/>
                          <a:cs typeface="Arial"/>
                        </a:rPr>
                        <a:t>[Observable result]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D6ADE3B-158C-431C-903B-E88F2820D915}"/>
              </a:ext>
            </a:extLst>
          </p:cNvPr>
          <p:cNvSpPr>
            <a:spLocks noGrp="1"/>
          </p:cNvSpPr>
          <p:nvPr/>
        </p:nvSpPr>
        <p:spPr>
          <a:xfrm>
            <a:off x="619125" y="531495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025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Officer decision: [Approval, revision or further evidence requested]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1CC8DF-25FE-4020-A2E0-DF5476537A85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763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400" b="1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840C8"/>
                </a:solidFill>
                <a:latin typeface="Arial"/>
                <a:ea typeface="Arial"/>
                <a:cs typeface="Arial"/>
              </a:rPr>
              <a:t>AIP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C897A4-A9B8-4F17-8632-E1A2FE059794}"/>
              </a:ext>
            </a:extLst>
          </p:cNvPr>
          <p:cNvSpPr>
            <a:spLocks noGrp="1"/>
          </p:cNvSpPr>
          <p:nvPr/>
        </p:nvSpPr>
        <p:spPr>
          <a:xfrm>
            <a:off x="1533525" y="2857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1">
                <a:solidFill>
                  <a:srgbClr val="1818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182E"/>
                </a:solidFill>
                <a:latin typeface="Arial"/>
                <a:ea typeface="Arial"/>
                <a:cs typeface="Arial"/>
              </a:rPr>
              <a:t>AI EXPLORATION PROGRAMME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4174D6-D5A7-4198-B294-823979FE0B65}"/>
              </a:ext>
            </a:extLst>
          </p:cNvPr>
          <p:cNvSpPr>
            <a:spLocks noGrp="1"/>
          </p:cNvSpPr>
          <p:nvPr/>
        </p:nvSpPr>
        <p:spPr>
          <a:xfrm>
            <a:off x="1533525" y="495300"/>
            <a:ext cx="6191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840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050" b="0">
                <a:solidFill>
                  <a:srgbClr val="6840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40C8"/>
                </a:solidFill>
                <a:latin typeface="Arial"/>
                <a:ea typeface="Arial"/>
                <a:cs typeface="Arial"/>
              </a:rPr>
              <a:t>Explore AI. Build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9314867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Macintosh PowerPoint</Application>
  <DocSecurity>0</DocSecurity>
  <PresentationFormat>Widescreen</PresentationFormat>
  <Paragraphs>135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Juliana Goh</cp:lastModifiedBy>
  <cp:revision>1</cp:revision>
  <dcterms:created xsi:type="dcterms:W3CDTF">2026-10-09T14:59:57Z</dcterms:created>
  <dcterms:modified xsi:type="dcterms:W3CDTF">2026-10-09T15:04:36Z</dcterms:modified>
</cp:coreProperties>
</file>